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1"/>
  </p:notesMasterIdLst>
  <p:handoutMasterIdLst>
    <p:handoutMasterId r:id="rId12"/>
  </p:handoutMasterIdLst>
  <p:sldIdLst>
    <p:sldId id="258" r:id="rId2"/>
    <p:sldId id="271" r:id="rId3"/>
    <p:sldId id="272" r:id="rId4"/>
    <p:sldId id="283" r:id="rId5"/>
    <p:sldId id="284" r:id="rId6"/>
    <p:sldId id="281" r:id="rId7"/>
    <p:sldId id="287" r:id="rId8"/>
    <p:sldId id="289" r:id="rId9"/>
    <p:sldId id="290" r:id="rId10"/>
  </p:sldIdLst>
  <p:sldSz cx="9144000" cy="6858000" type="screen4x3"/>
  <p:notesSz cx="7099300" cy="10234613"/>
  <p:defaultTextStyle>
    <a:defPPr>
      <a:defRPr lang="ko-KR"/>
    </a:defPPr>
    <a:lvl1pPr algn="ctr" rtl="0" eaLnBrk="0" fontAlgn="base" hangingPunct="0">
      <a:spcBef>
        <a:spcPct val="20000"/>
      </a:spcBef>
      <a:spcAft>
        <a:spcPct val="0"/>
      </a:spcAft>
      <a:buClr>
        <a:schemeClr val="tx2"/>
      </a:buClr>
      <a:buSzPct val="80000"/>
      <a:buFont typeface="Wingdings" pitchFamily="2" charset="2"/>
      <a:defRPr kumimoji="1" sz="1600" b="1" kern="1200">
        <a:solidFill>
          <a:schemeClr val="tx1"/>
        </a:solidFill>
        <a:latin typeface="Arial" pitchFamily="34" charset="0"/>
        <a:ea typeface="굴림체" pitchFamily="49" charset="-127"/>
        <a:cs typeface="+mn-cs"/>
      </a:defRPr>
    </a:lvl1pPr>
    <a:lvl2pPr marL="457200" algn="ctr" rtl="0" eaLnBrk="0" fontAlgn="base" hangingPunct="0">
      <a:spcBef>
        <a:spcPct val="20000"/>
      </a:spcBef>
      <a:spcAft>
        <a:spcPct val="0"/>
      </a:spcAft>
      <a:buClr>
        <a:schemeClr val="tx2"/>
      </a:buClr>
      <a:buSzPct val="80000"/>
      <a:buFont typeface="Wingdings" pitchFamily="2" charset="2"/>
      <a:defRPr kumimoji="1" sz="1600" b="1" kern="1200">
        <a:solidFill>
          <a:schemeClr val="tx1"/>
        </a:solidFill>
        <a:latin typeface="Arial" pitchFamily="34" charset="0"/>
        <a:ea typeface="굴림체" pitchFamily="49" charset="-127"/>
        <a:cs typeface="+mn-cs"/>
      </a:defRPr>
    </a:lvl2pPr>
    <a:lvl3pPr marL="914400" algn="ctr" rtl="0" eaLnBrk="0" fontAlgn="base" hangingPunct="0">
      <a:spcBef>
        <a:spcPct val="20000"/>
      </a:spcBef>
      <a:spcAft>
        <a:spcPct val="0"/>
      </a:spcAft>
      <a:buClr>
        <a:schemeClr val="tx2"/>
      </a:buClr>
      <a:buSzPct val="80000"/>
      <a:buFont typeface="Wingdings" pitchFamily="2" charset="2"/>
      <a:defRPr kumimoji="1" sz="1600" b="1" kern="1200">
        <a:solidFill>
          <a:schemeClr val="tx1"/>
        </a:solidFill>
        <a:latin typeface="Arial" pitchFamily="34" charset="0"/>
        <a:ea typeface="굴림체" pitchFamily="49" charset="-127"/>
        <a:cs typeface="+mn-cs"/>
      </a:defRPr>
    </a:lvl3pPr>
    <a:lvl4pPr marL="1371600" algn="ctr" rtl="0" eaLnBrk="0" fontAlgn="base" hangingPunct="0">
      <a:spcBef>
        <a:spcPct val="20000"/>
      </a:spcBef>
      <a:spcAft>
        <a:spcPct val="0"/>
      </a:spcAft>
      <a:buClr>
        <a:schemeClr val="tx2"/>
      </a:buClr>
      <a:buSzPct val="80000"/>
      <a:buFont typeface="Wingdings" pitchFamily="2" charset="2"/>
      <a:defRPr kumimoji="1" sz="1600" b="1" kern="1200">
        <a:solidFill>
          <a:schemeClr val="tx1"/>
        </a:solidFill>
        <a:latin typeface="Arial" pitchFamily="34" charset="0"/>
        <a:ea typeface="굴림체" pitchFamily="49" charset="-127"/>
        <a:cs typeface="+mn-cs"/>
      </a:defRPr>
    </a:lvl4pPr>
    <a:lvl5pPr marL="1828800" algn="ctr" rtl="0" eaLnBrk="0" fontAlgn="base" hangingPunct="0">
      <a:spcBef>
        <a:spcPct val="20000"/>
      </a:spcBef>
      <a:spcAft>
        <a:spcPct val="0"/>
      </a:spcAft>
      <a:buClr>
        <a:schemeClr val="tx2"/>
      </a:buClr>
      <a:buSzPct val="80000"/>
      <a:buFont typeface="Wingdings" pitchFamily="2" charset="2"/>
      <a:defRPr kumimoji="1" sz="1600" b="1" kern="1200">
        <a:solidFill>
          <a:schemeClr val="tx1"/>
        </a:solidFill>
        <a:latin typeface="Arial" pitchFamily="34" charset="0"/>
        <a:ea typeface="굴림체" pitchFamily="49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Arial" pitchFamily="34" charset="0"/>
        <a:ea typeface="굴림체" pitchFamily="49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Arial" pitchFamily="34" charset="0"/>
        <a:ea typeface="굴림체" pitchFamily="49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Arial" pitchFamily="34" charset="0"/>
        <a:ea typeface="굴림체" pitchFamily="49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Arial" pitchFamily="34" charset="0"/>
        <a:ea typeface="굴림체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0" autoAdjust="0"/>
    <p:restoredTop sz="89965" autoAdjust="0"/>
  </p:normalViewPr>
  <p:slideViewPr>
    <p:cSldViewPr>
      <p:cViewPr>
        <p:scale>
          <a:sx n="100" d="100"/>
          <a:sy n="100" d="100"/>
        </p:scale>
        <p:origin x="412" y="-10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-3330" y="-102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7" rIns="91432" bIns="45717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7" rIns="91432" bIns="45717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7" rIns="91432" bIns="45717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7" rIns="91432" bIns="45717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CB55FE87-A8CC-4AD5-8306-64542F990D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788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C5D8C40-7C6F-4FD1-944E-B2DBAFBF8D1E}" type="datetimeFigureOut">
              <a:rPr lang="ko-KR" altLang="en-US"/>
              <a:pPr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9F34D70-1D85-4BF9-914E-CA37FDC9161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5542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493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1800"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0573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54346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23850" y="908050"/>
            <a:ext cx="4208463" cy="54006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4713" y="908050"/>
            <a:ext cx="4208462" cy="54006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7807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2064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2904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75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1906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89132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3098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1638" y="87313"/>
            <a:ext cx="2141537" cy="62214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23850" y="87313"/>
            <a:ext cx="6275388" cy="62214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116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.bin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KU_fig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2150"/>
            <a:ext cx="9144000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SKKU_fig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2150"/>
            <a:ext cx="9144000" cy="616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08050"/>
            <a:ext cx="856932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6453188"/>
            <a:ext cx="43021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ko-KR" sz="800" b="0">
                <a:latin typeface="Book Antiqua" pitchFamily="18" charset="0"/>
                <a:ea typeface="돋움" pitchFamily="50" charset="-127"/>
              </a:rPr>
              <a:t>- </a:t>
            </a:r>
            <a:fld id="{04DC24C4-16F9-4001-A7C1-6C22F25392BC}" type="slidenum">
              <a:rPr kumimoji="0" lang="en-US" altLang="ko-KR" sz="800" b="0" smtClean="0">
                <a:latin typeface="Book Antiqua" pitchFamily="18" charset="0"/>
                <a:ea typeface="돋움" pitchFamily="50" charset="-127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‹#›</a:t>
            </a:fld>
            <a:r>
              <a:rPr kumimoji="0" lang="en-US" altLang="ko-KR" sz="800" b="0">
                <a:latin typeface="Book Antiqua" pitchFamily="18" charset="0"/>
                <a:ea typeface="돋움" pitchFamily="50" charset="-127"/>
              </a:rPr>
              <a:t> -</a:t>
            </a: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7440613" y="85725"/>
            <a:ext cx="1201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9pPr>
          </a:lstStyle>
          <a:p>
            <a:pPr algn="r">
              <a:buFontTx/>
              <a:buNone/>
              <a:defRPr/>
            </a:pPr>
            <a:r>
              <a:rPr lang="ko-KR" altLang="en-US" sz="1000" b="0"/>
              <a:t>제</a:t>
            </a:r>
            <a:r>
              <a:rPr lang="en-US" altLang="ko-KR" sz="1000" b="0"/>
              <a:t>1</a:t>
            </a:r>
            <a:r>
              <a:rPr lang="ko-KR" altLang="en-US" sz="1000" b="0"/>
              <a:t>장 </a:t>
            </a:r>
            <a:r>
              <a:rPr lang="en-US" altLang="ko-KR" sz="1000" b="0"/>
              <a:t>Introduction</a:t>
            </a: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 flipV="1">
            <a:off x="0" y="6742113"/>
            <a:ext cx="78120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 flipV="1">
            <a:off x="0" y="6670675"/>
            <a:ext cx="7812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7715250" y="6453188"/>
            <a:ext cx="1414463" cy="403225"/>
          </a:xfrm>
          <a:prstGeom prst="rect">
            <a:avLst/>
          </a:prstGeom>
          <a:gradFill rotWithShape="0">
            <a:gsLst>
              <a:gs pos="0">
                <a:srgbClr val="CCCCCC"/>
              </a:gs>
              <a:gs pos="50000">
                <a:srgbClr val="FFFFFF"/>
              </a:gs>
              <a:gs pos="100000">
                <a:srgbClr val="CCCCCC"/>
              </a:gs>
            </a:gsLst>
            <a:lin ang="5400000" scaled="1"/>
          </a:gradFill>
          <a:ln w="12700">
            <a:solidFill>
              <a:srgbClr val="DADADA"/>
            </a:solidFill>
            <a:miter lim="800000"/>
            <a:headEnd/>
            <a:tailEnd/>
          </a:ln>
          <a:effectLst>
            <a:outerShdw dist="35921" dir="18900000" algn="ctr" rotWithShape="0">
              <a:srgbClr val="081D58"/>
            </a:outerShdw>
          </a:effectLst>
        </p:spPr>
        <p:txBody>
          <a:bodyPr wrap="none" anchor="ctr"/>
          <a:lstStyle>
            <a:lvl1pPr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9pPr>
          </a:lstStyle>
          <a:p>
            <a:pPr>
              <a:buFontTx/>
              <a:buNone/>
              <a:defRPr/>
            </a:pPr>
            <a:r>
              <a:rPr lang="en-US" altLang="ko-KR" sz="1200" dirty="0">
                <a:ea typeface="휴먼옛체" pitchFamily="18" charset="-127"/>
              </a:rPr>
              <a:t>Capstone Design</a:t>
            </a:r>
          </a:p>
        </p:txBody>
      </p:sp>
      <p:graphicFrame>
        <p:nvGraphicFramePr>
          <p:cNvPr id="1034" name="Object 10"/>
          <p:cNvGraphicFramePr>
            <a:graphicFrameLocks noChangeAspect="1"/>
          </p:cNvGraphicFramePr>
          <p:nvPr/>
        </p:nvGraphicFramePr>
        <p:xfrm>
          <a:off x="0" y="0"/>
          <a:ext cx="9144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14" imgW="8202170" imgH="581106" progId="PBrush">
                  <p:embed/>
                </p:oleObj>
              </mc:Choice>
              <mc:Fallback>
                <p:oleObj name="비트맵 이미지" r:id="rId14" imgW="8202170" imgH="581106" progId="PBrush">
                  <p:embed/>
                  <p:pic>
                    <p:nvPicPr>
                      <p:cNvPr id="0" name="Picture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lum bright="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07763" dir="2700000" algn="ctr" rotWithShape="0">
                          <a:srgbClr val="919191">
                            <a:alpha val="50000"/>
                          </a:srgbClr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323850" y="6477000"/>
            <a:ext cx="719138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lang="en-US" altLang="ko-KR" sz="6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SKKU ME HSH</a:t>
            </a:r>
          </a:p>
        </p:txBody>
      </p:sp>
      <p:graphicFrame>
        <p:nvGraphicFramePr>
          <p:cNvPr id="1036" name="Object 15"/>
          <p:cNvGraphicFramePr>
            <a:graphicFrameLocks noChangeAspect="1"/>
          </p:cNvGraphicFramePr>
          <p:nvPr userDrawn="1"/>
        </p:nvGraphicFramePr>
        <p:xfrm>
          <a:off x="107950" y="69850"/>
          <a:ext cx="6477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16" imgW="2819794" imgH="2676899" progId="PBrush">
                  <p:embed/>
                </p:oleObj>
              </mc:Choice>
              <mc:Fallback>
                <p:oleObj name="비트맵 이미지" r:id="rId16" imgW="2819794" imgH="2676899" progId="PBrush">
                  <p:embed/>
                  <p:pic>
                    <p:nvPicPr>
                      <p:cNvPr id="0" name="Picture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69850"/>
                        <a:ext cx="647700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91919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87313"/>
            <a:ext cx="8555038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5" name="Text Box 14"/>
          <p:cNvSpPr txBox="1">
            <a:spLocks noChangeArrowheads="1"/>
          </p:cNvSpPr>
          <p:nvPr userDrawn="1"/>
        </p:nvSpPr>
        <p:spPr bwMode="auto">
          <a:xfrm>
            <a:off x="8224838" y="44450"/>
            <a:ext cx="66833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1pPr>
            <a:lvl2pPr marL="742950" indent="-28575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2pPr>
            <a:lvl3pPr marL="1143000" indent="-22860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3pPr>
            <a:lvl4pPr marL="1600200" indent="-22860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4pPr>
            <a:lvl5pPr marL="2057400" indent="-228600"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defRPr kumimoji="1" sz="1600" b="1">
                <a:solidFill>
                  <a:schemeClr val="tx1"/>
                </a:solidFill>
                <a:latin typeface="Arial" charset="0"/>
                <a:ea typeface="굴림체" pitchFamily="49" charset="-127"/>
              </a:defRPr>
            </a:lvl9pPr>
          </a:lstStyle>
          <a:p>
            <a:pPr algn="r">
              <a:buFontTx/>
              <a:buNone/>
              <a:defRPr/>
            </a:pPr>
            <a:r>
              <a:rPr lang="en-US" altLang="ko-KR" sz="1000" b="0" dirty="0"/>
              <a:t>Syllabus</a:t>
            </a:r>
            <a:endParaRPr lang="ko-KR" altLang="en-US" sz="10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000066"/>
          </a:solidFill>
          <a:latin typeface="HY헤드라인M" pitchFamily="18" charset="-127"/>
          <a:ea typeface="HY헤드라인M" pitchFamily="18" charset="-127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000066"/>
          </a:solidFill>
          <a:latin typeface="HY헤드라인M" pitchFamily="18" charset="-127"/>
          <a:ea typeface="HY헤드라인M" pitchFamily="18" charset="-127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000066"/>
          </a:solidFill>
          <a:latin typeface="HY헤드라인M" pitchFamily="18" charset="-127"/>
          <a:ea typeface="HY헤드라인M" pitchFamily="18" charset="-127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000066"/>
          </a:solidFill>
          <a:latin typeface="HY헤드라인M" pitchFamily="18" charset="-127"/>
          <a:ea typeface="HY헤드라인M" pitchFamily="18" charset="-127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000066"/>
          </a:solidFill>
          <a:latin typeface="HY헤드라인M" pitchFamily="18" charset="-127"/>
          <a:ea typeface="HY헤드라인M" pitchFamily="18" charset="-127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000066"/>
          </a:solidFill>
          <a:latin typeface="HY헤드라인M" pitchFamily="18" charset="-127"/>
          <a:ea typeface="HY헤드라인M" pitchFamily="18" charset="-127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000066"/>
          </a:solidFill>
          <a:latin typeface="HY헤드라인M" pitchFamily="18" charset="-127"/>
          <a:ea typeface="HY헤드라인M" pitchFamily="18" charset="-127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000066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Monotype Sorts" pitchFamily="2" charset="2"/>
        <a:buBlip>
          <a:blip r:embed="rId18"/>
        </a:buBlip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65FB"/>
        </a:buClr>
        <a:buFont typeface="Wingdings" pitchFamily="2" charset="2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7FFF00"/>
        </a:buClr>
        <a:buFont typeface="Monotype Sorts" pitchFamily="2" charset="2"/>
        <a:buBlip>
          <a:blip r:embed="rId20"/>
        </a:buBlip>
        <a:defRPr kumimoji="1" sz="2400">
          <a:solidFill>
            <a:schemeClr val="tx1"/>
          </a:solidFill>
          <a:latin typeface="+mn-lt"/>
          <a:ea typeface="+mn-ea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rgbClr val="CC6600"/>
        </a:buClr>
        <a:buSzPct val="100000"/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–"/>
        <a:defRPr kumimoji="1" sz="1600">
          <a:solidFill>
            <a:schemeClr val="tx1"/>
          </a:solidFill>
          <a:latin typeface="+mn-lt"/>
          <a:ea typeface="+mn-ea"/>
        </a:defRPr>
      </a:lvl5pPr>
      <a:lvl6pPr marL="2438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–"/>
        <a:defRPr kumimoji="1" sz="1600">
          <a:solidFill>
            <a:schemeClr val="tx1"/>
          </a:solidFill>
          <a:latin typeface="+mn-lt"/>
          <a:ea typeface="+mn-ea"/>
        </a:defRPr>
      </a:lvl6pPr>
      <a:lvl7pPr marL="2895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–"/>
        <a:defRPr kumimoji="1" sz="1600">
          <a:solidFill>
            <a:schemeClr val="tx1"/>
          </a:solidFill>
          <a:latin typeface="+mn-lt"/>
          <a:ea typeface="+mn-ea"/>
        </a:defRPr>
      </a:lvl7pPr>
      <a:lvl8pPr marL="3352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–"/>
        <a:defRPr kumimoji="1" sz="1600">
          <a:solidFill>
            <a:schemeClr val="tx1"/>
          </a:solidFill>
          <a:latin typeface="+mn-lt"/>
          <a:ea typeface="+mn-ea"/>
        </a:defRPr>
      </a:lvl8pPr>
      <a:lvl9pPr marL="3810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–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hkchoi@skku.ed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0AD0A4-6D43-49EA-8C6A-09514F695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535039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000066"/>
                </a:solidFill>
                <a:latin typeface="HY헤드라인M" pitchFamily="18" charset="-127"/>
                <a:ea typeface="HY헤드라인M" pitchFamily="18" charset="-127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000066"/>
                </a:solidFill>
                <a:latin typeface="HY헤드라인M" pitchFamily="18" charset="-127"/>
                <a:ea typeface="HY헤드라인M" pitchFamily="18" charset="-127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000066"/>
                </a:solidFill>
                <a:latin typeface="HY헤드라인M" pitchFamily="18" charset="-127"/>
                <a:ea typeface="HY헤드라인M" pitchFamily="18" charset="-127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000066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000066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000066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000066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000066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>
              <a:buClrTx/>
              <a:buSzTx/>
              <a:buFontTx/>
            </a:pPr>
            <a:r>
              <a:rPr lang="en-US" altLang="ko-KR" sz="4000" kern="0" dirty="0"/>
              <a:t>Introduction</a:t>
            </a:r>
            <a:r>
              <a:rPr lang="ko-KR" altLang="en-US" sz="4000" kern="0" dirty="0"/>
              <a:t> </a:t>
            </a:r>
            <a:r>
              <a:rPr lang="en-US" altLang="ko-KR" sz="4000" kern="0" dirty="0"/>
              <a:t>to</a:t>
            </a:r>
            <a:r>
              <a:rPr lang="ko-KR" altLang="en-US" sz="4000" kern="0" dirty="0"/>
              <a:t> </a:t>
            </a:r>
            <a:r>
              <a:rPr lang="ko-KR" altLang="en-US" sz="4000" b="1" kern="0" dirty="0"/>
              <a:t> </a:t>
            </a:r>
            <a:endParaRPr lang="en-US" altLang="ko-KR" sz="4000" b="1" kern="0" dirty="0"/>
          </a:p>
          <a:p>
            <a:pPr>
              <a:buClrTx/>
              <a:buSzTx/>
              <a:buFontTx/>
            </a:pPr>
            <a:r>
              <a:rPr lang="en-US" altLang="ko-KR" sz="4000" b="1" kern="0" dirty="0"/>
              <a:t>Capstone Design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Capstone Design Outcomes</a:t>
            </a:r>
            <a:endParaRPr lang="ko-KR" altLang="en-US" dirty="0"/>
          </a:p>
        </p:txBody>
      </p:sp>
      <p:sp>
        <p:nvSpPr>
          <p:cNvPr id="5123" name="내용 개체 틀 2"/>
          <p:cNvSpPr>
            <a:spLocks noGrp="1"/>
          </p:cNvSpPr>
          <p:nvPr>
            <p:ph idx="1"/>
          </p:nvPr>
        </p:nvSpPr>
        <p:spPr>
          <a:xfrm>
            <a:off x="467544" y="1340768"/>
            <a:ext cx="8064896" cy="5069879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altLang="ko-KR" dirty="0"/>
              <a:t>Course Outcomes 1</a:t>
            </a:r>
          </a:p>
          <a:p>
            <a:pPr marL="0" indent="0">
              <a:buNone/>
              <a:defRPr/>
            </a:pPr>
            <a:endParaRPr lang="en-US" altLang="ko-KR" sz="1800" dirty="0">
              <a:latin typeface="+mn-ea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1800" dirty="0">
                <a:highlight>
                  <a:srgbClr val="FFFF00"/>
                </a:highlight>
                <a:latin typeface="+mn-ea"/>
              </a:rPr>
              <a:t>Ability to design systems, elements, and process to meet requirements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1800" dirty="0">
                <a:latin typeface="+mn-ea"/>
              </a:rPr>
              <a:t>Ability to </a:t>
            </a:r>
            <a:r>
              <a:rPr lang="en-US" altLang="ko-KR" sz="1800" dirty="0">
                <a:highlight>
                  <a:srgbClr val="FFFF00"/>
                </a:highlight>
                <a:latin typeface="+mn-ea"/>
              </a:rPr>
              <a:t>play the role </a:t>
            </a:r>
            <a:r>
              <a:rPr lang="en-US" altLang="ko-KR" sz="1800" dirty="0">
                <a:latin typeface="+mn-ea"/>
              </a:rPr>
              <a:t>of one member in a </a:t>
            </a:r>
            <a:r>
              <a:rPr lang="en-US" altLang="ko-KR" sz="1800" dirty="0">
                <a:highlight>
                  <a:srgbClr val="FFFF00"/>
                </a:highlight>
                <a:latin typeface="+mn-ea"/>
              </a:rPr>
              <a:t>multidisciplinary team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800" dirty="0">
              <a:latin typeface="+mn-ea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1800" dirty="0">
                <a:latin typeface="+mn-ea"/>
              </a:rPr>
              <a:t>Ability to sustain </a:t>
            </a:r>
            <a:r>
              <a:rPr lang="en-US" altLang="ko-KR" sz="1800" dirty="0">
                <a:highlight>
                  <a:srgbClr val="FFFF00"/>
                </a:highlight>
                <a:latin typeface="+mn-ea"/>
              </a:rPr>
              <a:t>professional and moral responsibility </a:t>
            </a:r>
            <a:r>
              <a:rPr lang="en-US" altLang="ko-KR" sz="1800" dirty="0">
                <a:latin typeface="+mn-ea"/>
              </a:rPr>
              <a:t>as a mechanical engineer</a:t>
            </a:r>
          </a:p>
          <a:p>
            <a:pPr lvl="1">
              <a:defRPr/>
            </a:pPr>
            <a:endParaRPr lang="en-US" altLang="ko-KR" sz="1800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800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863587" y="1196677"/>
            <a:ext cx="7416825" cy="540067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ko-KR" dirty="0"/>
              <a:t>Course Outcomes 2</a:t>
            </a:r>
            <a:endParaRPr lang="en-US" altLang="ko-KR" sz="1700" dirty="0"/>
          </a:p>
          <a:p>
            <a:pPr>
              <a:buNone/>
              <a:defRPr/>
            </a:pPr>
            <a:r>
              <a:rPr lang="en-US" altLang="ko-KR" sz="1700" dirty="0"/>
              <a:t>	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1800" dirty="0">
                <a:highlight>
                  <a:srgbClr val="FFFF00"/>
                </a:highlight>
              </a:rPr>
              <a:t>Ability to understand, formulate, and solve </a:t>
            </a:r>
            <a:r>
              <a:rPr lang="en-US" altLang="ko-KR" sz="1800" dirty="0"/>
              <a:t>engineering problems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1800" dirty="0"/>
              <a:t>Ability to </a:t>
            </a:r>
            <a:r>
              <a:rPr lang="en-US" altLang="ko-KR" sz="1800" dirty="0">
                <a:highlight>
                  <a:srgbClr val="FFFF00"/>
                </a:highlight>
              </a:rPr>
              <a:t>communicate effectively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1800" dirty="0"/>
              <a:t>Ability to </a:t>
            </a:r>
            <a:r>
              <a:rPr lang="en-US" altLang="ko-KR" sz="1800" dirty="0">
                <a:highlight>
                  <a:srgbClr val="FFFF00"/>
                </a:highlight>
              </a:rPr>
              <a:t>use the skills, methods, and latest engineering tools </a:t>
            </a:r>
            <a:r>
              <a:rPr lang="en-US" altLang="ko-KR" sz="1800" dirty="0"/>
              <a:t>necessary for engineering practice</a:t>
            </a:r>
          </a:p>
          <a:p>
            <a:pPr>
              <a:buNone/>
              <a:defRPr/>
            </a:pPr>
            <a:endParaRPr lang="en-US" altLang="ko-KR" sz="1700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23850" y="87313"/>
            <a:ext cx="8555038" cy="573087"/>
          </a:xfrm>
        </p:spPr>
        <p:txBody>
          <a:bodyPr/>
          <a:lstStyle/>
          <a:p>
            <a:r>
              <a:rPr lang="en-US" altLang="ko-KR" dirty="0"/>
              <a:t>Capstone Design Outcomes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5BD97A-0E10-5FCF-86DC-119C405FB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677"/>
            <a:ext cx="8208912" cy="540067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800" dirty="0"/>
              <a:t>Professor: </a:t>
            </a:r>
            <a:r>
              <a:rPr lang="en-US" altLang="ko-KR" sz="1800" dirty="0" err="1"/>
              <a:t>Hyeonki</a:t>
            </a:r>
            <a:r>
              <a:rPr lang="en-US" altLang="ko-KR" sz="1800" dirty="0"/>
              <a:t> Choi, Room 23334B, 031-290-7455 </a:t>
            </a:r>
            <a:r>
              <a:rPr lang="en-US" altLang="ko-KR" sz="1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hkchoi@skku.edu</a:t>
            </a: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en-US" altLang="ko-KR" sz="1800" dirty="0"/>
              <a:t>Teaching assistant information: To be announced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/>
              <a:t>	</a:t>
            </a:r>
            <a:endParaRPr lang="en-US" altLang="ko-KR" sz="1800" dirty="0">
              <a:highlight>
                <a:srgbClr val="FFFF00"/>
              </a:highlight>
            </a:endParaRPr>
          </a:p>
          <a:p>
            <a:pPr>
              <a:lnSpc>
                <a:spcPct val="120000"/>
              </a:lnSpc>
            </a:pPr>
            <a:r>
              <a:rPr lang="en-US" altLang="ko-KR" sz="1800" dirty="0">
                <a:solidFill>
                  <a:schemeClr val="accent6"/>
                </a:solidFill>
              </a:rPr>
              <a:t>Free topics</a:t>
            </a:r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en-US" altLang="ko-KR" sz="1800" dirty="0"/>
              <a:t>Evaluation</a:t>
            </a:r>
          </a:p>
          <a:p>
            <a:pPr lvl="1">
              <a:lnSpc>
                <a:spcPct val="120000"/>
              </a:lnSpc>
            </a:pPr>
            <a:r>
              <a:rPr lang="en-US" altLang="ko-KR" sz="1800" dirty="0"/>
              <a:t>Attendance: 5%</a:t>
            </a:r>
          </a:p>
          <a:p>
            <a:pPr lvl="1">
              <a:lnSpc>
                <a:spcPct val="120000"/>
              </a:lnSpc>
            </a:pPr>
            <a:r>
              <a:rPr lang="en-US" altLang="ko-KR" sz="1800" dirty="0"/>
              <a:t>Team Discussion Rooms, Team Activity Reports: 5%</a:t>
            </a:r>
          </a:p>
          <a:p>
            <a:pPr lvl="1">
              <a:lnSpc>
                <a:spcPct val="120000"/>
              </a:lnSpc>
            </a:pPr>
            <a:r>
              <a:rPr lang="en-US" altLang="ko-KR" sz="1800" dirty="0"/>
              <a:t>Report on the results, report to LINC (team report) 15%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sz="1600" dirty="0"/>
          </a:p>
          <a:p>
            <a:pPr marL="0" indent="0">
              <a:lnSpc>
                <a:spcPct val="120000"/>
              </a:lnSpc>
              <a:buNone/>
            </a:pPr>
            <a:endParaRPr lang="en-US" altLang="ko-KR" sz="1600" dirty="0"/>
          </a:p>
          <a:p>
            <a:pPr marL="0" indent="0">
              <a:buNone/>
            </a:pPr>
            <a:endParaRPr lang="ko-KR" altLang="en-US" sz="1600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F0CB004-BA34-4B93-399B-708B774D7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87313"/>
            <a:ext cx="8555038" cy="573087"/>
          </a:xfrm>
        </p:spPr>
        <p:txBody>
          <a:bodyPr/>
          <a:lstStyle/>
          <a:p>
            <a:r>
              <a:rPr lang="en-US" altLang="ko-KR" dirty="0"/>
              <a:t>Course Description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7340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83E7DF-927A-64A0-01B6-4B83BE3A9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052736"/>
            <a:ext cx="8569325" cy="5400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 </a:t>
            </a:r>
          </a:p>
          <a:p>
            <a:r>
              <a:rPr lang="en-US" altLang="ko-KR" sz="1800" dirty="0"/>
              <a:t>Plan Presentation: 10%</a:t>
            </a:r>
          </a:p>
          <a:p>
            <a:r>
              <a:rPr lang="en-US" altLang="ko-KR" sz="1800" dirty="0"/>
              <a:t>Interim Presentation: 10%; </a:t>
            </a:r>
          </a:p>
          <a:p>
            <a:r>
              <a:rPr lang="en-US" altLang="ko-KR" sz="1800" dirty="0"/>
              <a:t>Final Presentation: 40% (including </a:t>
            </a:r>
            <a:r>
              <a:rPr lang="en-US" altLang="ko-KR" sz="1800" dirty="0">
                <a:highlight>
                  <a:srgbClr val="FFFF00"/>
                </a:highlight>
              </a:rPr>
              <a:t>product demonstration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sz="1800" dirty="0">
                <a:highlight>
                  <a:srgbClr val="FFFF00"/>
                </a:highlight>
              </a:rPr>
              <a:t>Plan presentation: 15 minutes for each team, 1 or 2 presenters</a:t>
            </a:r>
          </a:p>
          <a:p>
            <a:r>
              <a:rPr lang="en-US" altLang="ko-KR" sz="1800" dirty="0">
                <a:highlight>
                  <a:srgbClr val="FFFF00"/>
                </a:highlight>
              </a:rPr>
              <a:t>Midterm presentation: 15 minutes for each team, 1 or 2 presenters </a:t>
            </a:r>
          </a:p>
          <a:p>
            <a:r>
              <a:rPr lang="en-US" altLang="ko-KR" sz="1800" dirty="0">
                <a:highlight>
                  <a:srgbClr val="FFFF00"/>
                </a:highlight>
              </a:rPr>
              <a:t>Final presentation: 20 minutes (including demo.) for each team</a:t>
            </a:r>
          </a:p>
          <a:p>
            <a:r>
              <a:rPr lang="en-US" altLang="ko-KR" sz="1800" dirty="0"/>
              <a:t>Presentation is given by the rest of the team</a:t>
            </a:r>
          </a:p>
          <a:p>
            <a:r>
              <a:rPr lang="en-US" altLang="ko-KR" sz="1800" dirty="0"/>
              <a:t>Distribute presentations so that </a:t>
            </a:r>
            <a:r>
              <a:rPr lang="en-US" altLang="ko-KR" sz="1800" dirty="0">
                <a:highlight>
                  <a:srgbClr val="FFFF00"/>
                </a:highlight>
              </a:rPr>
              <a:t>everyone on the team participates in the presentation</a:t>
            </a:r>
          </a:p>
          <a:p>
            <a:endParaRPr lang="en-US" altLang="ko-KR" sz="1800" dirty="0"/>
          </a:p>
          <a:p>
            <a:r>
              <a:rPr lang="en-US" altLang="ko-KR" sz="1800" dirty="0"/>
              <a:t>Presentation evaluation consists of </a:t>
            </a:r>
            <a:r>
              <a:rPr lang="en-US" altLang="ko-KR" sz="1800" dirty="0">
                <a:highlight>
                  <a:srgbClr val="FFFF00"/>
                </a:highlight>
              </a:rPr>
              <a:t>evaluation by the </a:t>
            </a:r>
            <a:r>
              <a:rPr lang="en-US" altLang="ko-KR" sz="1800" b="1" dirty="0">
                <a:highlight>
                  <a:srgbClr val="FFFF00"/>
                </a:highlight>
              </a:rPr>
              <a:t>whole students </a:t>
            </a:r>
            <a:r>
              <a:rPr lang="en-US" altLang="ko-KR" sz="1800" dirty="0">
                <a:highlight>
                  <a:srgbClr val="FFFF00"/>
                </a:highlight>
              </a:rPr>
              <a:t>(evaluation of other teams) and </a:t>
            </a:r>
            <a:r>
              <a:rPr lang="en-US" altLang="ko-KR" sz="1800" b="1" dirty="0">
                <a:highlight>
                  <a:srgbClr val="FFFF00"/>
                </a:highlight>
              </a:rPr>
              <a:t>Professor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ko-KR" altLang="en-US" sz="1800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A5A5028-942A-88AE-EE89-A2F1D2B6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87313"/>
            <a:ext cx="8555038" cy="573087"/>
          </a:xfrm>
        </p:spPr>
        <p:txBody>
          <a:bodyPr/>
          <a:lstStyle/>
          <a:p>
            <a:r>
              <a:rPr lang="en-US" altLang="ko-KR" dirty="0"/>
              <a:t>Course Description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449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452839-DE43-7872-17CA-D60EAF6D3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Team</a:t>
            </a:r>
            <a:r>
              <a:rPr lang="ko-KR" altLang="en-US" sz="2000" dirty="0"/>
              <a:t> </a:t>
            </a:r>
            <a:r>
              <a:rPr lang="en-US" altLang="ko-KR" sz="2000" dirty="0"/>
              <a:t>formation and topic selection</a:t>
            </a:r>
          </a:p>
          <a:p>
            <a:pPr lvl="1"/>
            <a:r>
              <a:rPr lang="en-US" altLang="ko-KR" sz="1800" dirty="0"/>
              <a:t>Team composition after confirmation of attendance book: </a:t>
            </a:r>
            <a:r>
              <a:rPr lang="en-US" altLang="ko-KR" sz="1800" dirty="0">
                <a:highlight>
                  <a:srgbClr val="FFFF00"/>
                </a:highlight>
              </a:rPr>
              <a:t>Random composition</a:t>
            </a:r>
          </a:p>
          <a:p>
            <a:pPr lvl="1"/>
            <a:r>
              <a:rPr lang="en-US" altLang="ko-KR" sz="1800" dirty="0"/>
              <a:t>Announcement of each team members will be on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-Cam </a:t>
            </a:r>
          </a:p>
          <a:p>
            <a:pPr lvl="1"/>
            <a:r>
              <a:rPr lang="en-US" altLang="ko-KR" sz="1800" dirty="0">
                <a:highlight>
                  <a:srgbClr val="FFFF00"/>
                </a:highlight>
              </a:rPr>
              <a:t>Topic selection</a:t>
            </a:r>
            <a:r>
              <a:rPr lang="en-US" altLang="ko-KR" sz="1800" dirty="0"/>
              <a:t> for each team is chosen during team meeting.</a:t>
            </a:r>
          </a:p>
          <a:p>
            <a:pPr marL="0" indent="0">
              <a:buNone/>
            </a:pPr>
            <a:endParaRPr lang="en-US" altLang="ko-KR" sz="2000" dirty="0"/>
          </a:p>
          <a:p>
            <a:r>
              <a:rPr lang="en-US" altLang="ko-KR" sz="2000" dirty="0"/>
              <a:t>Send topics using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-Cam message by 24:00, Wed.</a:t>
            </a:r>
            <a:r>
              <a:rPr lang="ko-KR" altLang="en-US" sz="2000" dirty="0"/>
              <a:t> </a:t>
            </a:r>
            <a:r>
              <a:rPr lang="en-US" altLang="ko-KR" sz="2000" dirty="0"/>
              <a:t>of</a:t>
            </a:r>
            <a:r>
              <a:rPr lang="ko-KR" altLang="en-US" sz="2000" dirty="0"/>
              <a:t> </a:t>
            </a:r>
            <a:r>
              <a:rPr lang="en-US" altLang="ko-KR" sz="2000" dirty="0"/>
              <a:t>3</a:t>
            </a:r>
            <a:r>
              <a:rPr lang="en-US" altLang="ko-KR" sz="2000" baseline="30000" dirty="0"/>
              <a:t>rd</a:t>
            </a:r>
            <a:r>
              <a:rPr lang="ko-KR" altLang="en-US" sz="2000" dirty="0"/>
              <a:t> </a:t>
            </a:r>
            <a:r>
              <a:rPr lang="en-US" altLang="ko-KR" sz="2000" dirty="0"/>
              <a:t>Week.</a:t>
            </a:r>
            <a:endParaRPr lang="en-US" altLang="ko-KR" sz="2000" baseline="30000" dirty="0"/>
          </a:p>
          <a:p>
            <a:pPr marL="0" indent="0">
              <a:buNone/>
            </a:pPr>
            <a:endParaRPr lang="en-US" altLang="ko-KR" sz="2000" baseline="30000" dirty="0"/>
          </a:p>
          <a:p>
            <a:r>
              <a:rPr lang="en-US" altLang="ko-KR" sz="2000" dirty="0"/>
              <a:t>Topic message should have </a:t>
            </a:r>
            <a:r>
              <a:rPr lang="en-US" altLang="ko-KR" sz="2000" dirty="0">
                <a:highlight>
                  <a:srgbClr val="FFFF00"/>
                </a:highlight>
              </a:rPr>
              <a:t>title and brief outline less than 10 lines (strict limit).</a:t>
            </a:r>
          </a:p>
          <a:p>
            <a:endParaRPr lang="en-US" altLang="ko-KR" sz="2000" dirty="0"/>
          </a:p>
          <a:p>
            <a:r>
              <a:rPr lang="en-US" altLang="ko-KR" sz="2000" dirty="0"/>
              <a:t>Overlapping topics can be adjusted by professor after consulting with each team.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F8E2BF-44FE-9272-A035-D6CF3C33F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87313"/>
            <a:ext cx="8555038" cy="573087"/>
          </a:xfrm>
        </p:spPr>
        <p:txBody>
          <a:bodyPr/>
          <a:lstStyle/>
          <a:p>
            <a:r>
              <a:rPr lang="en-US" altLang="ko-KR" dirty="0"/>
              <a:t>Course Description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2287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Course Management-1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980728"/>
            <a:ext cx="8378854" cy="5400675"/>
          </a:xfrm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altLang="ko-KR" dirty="0"/>
              <a:t>Weekly Report</a:t>
            </a:r>
          </a:p>
          <a:p>
            <a:pPr lvl="1"/>
            <a:r>
              <a:rPr lang="en-US" altLang="ko-KR" dirty="0"/>
              <a:t>Submit weekly progress report (10 lines limit) for </a:t>
            </a:r>
            <a:r>
              <a:rPr lang="en-US" altLang="ko-KR" dirty="0">
                <a:highlight>
                  <a:srgbClr val="FFFF00"/>
                </a:highlight>
              </a:rPr>
              <a:t>each team, only one repot by team leader. </a:t>
            </a:r>
          </a:p>
          <a:p>
            <a:pPr lvl="1"/>
            <a:r>
              <a:rPr lang="en-US" altLang="ko-KR" dirty="0"/>
              <a:t>Submit to </a:t>
            </a:r>
            <a:r>
              <a:rPr lang="en-US" altLang="ko-KR" dirty="0" err="1"/>
              <a:t>i</a:t>
            </a:r>
            <a:r>
              <a:rPr lang="en-US" altLang="ko-KR" dirty="0"/>
              <a:t>-CAM</a:t>
            </a:r>
          </a:p>
          <a:p>
            <a:pPr lvl="1"/>
            <a:r>
              <a:rPr lang="en-US" altLang="ko-KR" dirty="0"/>
              <a:t>Due date of submission: </a:t>
            </a:r>
            <a:r>
              <a:rPr lang="en-US" altLang="ko-KR" dirty="0">
                <a:highlight>
                  <a:srgbClr val="FFFF00"/>
                </a:highlight>
              </a:rPr>
              <a:t>Every Sun, by 24:00 from 2</a:t>
            </a:r>
            <a:r>
              <a:rPr lang="en-US" altLang="ko-KR" baseline="30000" dirty="0">
                <a:highlight>
                  <a:srgbClr val="FFFF00"/>
                </a:highlight>
              </a:rPr>
              <a:t>nd</a:t>
            </a:r>
            <a:r>
              <a:rPr lang="en-US" altLang="ko-KR" dirty="0">
                <a:highlight>
                  <a:srgbClr val="FFFF00"/>
                </a:highlight>
              </a:rPr>
              <a:t> week.</a:t>
            </a:r>
          </a:p>
          <a:p>
            <a:endParaRPr lang="en-US" altLang="ko-KR" sz="2000" dirty="0"/>
          </a:p>
          <a:p>
            <a:r>
              <a:rPr lang="en-US" altLang="ko-KR" dirty="0"/>
              <a:t>Final Result Report</a:t>
            </a:r>
          </a:p>
          <a:p>
            <a:pPr lvl="1"/>
            <a:r>
              <a:rPr lang="en-US" altLang="ko-KR" dirty="0"/>
              <a:t>Less than 20 pages, with pictures or table/ free format</a:t>
            </a:r>
          </a:p>
          <a:p>
            <a:pPr lvl="1"/>
            <a:r>
              <a:rPr lang="en-US" altLang="ko-KR" dirty="0"/>
              <a:t>Submit at the final presentation</a:t>
            </a:r>
          </a:p>
          <a:p>
            <a:pPr marL="457200" lvl="1" indent="0">
              <a:buNone/>
            </a:pPr>
            <a:endParaRPr lang="en-US" altLang="ko-KR" sz="1800" dirty="0"/>
          </a:p>
          <a:p>
            <a:r>
              <a:rPr lang="en-US" altLang="ko-KR" dirty="0"/>
              <a:t>RISE Report (RISE report form)</a:t>
            </a:r>
            <a:r>
              <a:rPr lang="en-US" altLang="ko-KR" sz="2000" dirty="0">
                <a:sym typeface="Wingdings" panose="05000000000000000000" pitchFamily="2" charset="2"/>
              </a:rPr>
              <a:t>will be given to you later</a:t>
            </a:r>
          </a:p>
          <a:p>
            <a:pPr marL="0" indent="0">
              <a:buNone/>
            </a:pPr>
            <a:endParaRPr lang="en-US" altLang="ko-KR" sz="2000" dirty="0">
              <a:sym typeface="Wingdings" panose="05000000000000000000" pitchFamily="2" charset="2"/>
            </a:endParaRPr>
          </a:p>
          <a:p>
            <a:r>
              <a:rPr lang="en-US" altLang="ko-KR" sz="2000" dirty="0"/>
              <a:t>All of the reports are </a:t>
            </a:r>
            <a:r>
              <a:rPr lang="en-US" altLang="ko-KR" sz="2000" dirty="0">
                <a:highlight>
                  <a:srgbClr val="FFFF00"/>
                </a:highlight>
              </a:rPr>
              <a:t>Fee Format. I will see how logical the writing is.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endParaRPr lang="en-US" altLang="ko-KR" sz="1800" dirty="0">
              <a:solidFill>
                <a:srgbClr val="FF0000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07631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Course Management-2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001818"/>
            <a:ext cx="8339336" cy="5379510"/>
          </a:xfrm>
        </p:spPr>
        <p:txBody>
          <a:bodyPr>
            <a:normAutofit/>
          </a:bodyPr>
          <a:lstStyle/>
          <a:p>
            <a:pPr lvl="1">
              <a:buNone/>
            </a:pPr>
            <a:endParaRPr lang="en-US" altLang="ko-KR" sz="1600" dirty="0">
              <a:solidFill>
                <a:srgbClr val="FF0000"/>
              </a:solidFill>
            </a:endParaRPr>
          </a:p>
          <a:p>
            <a:pPr marL="0" lvl="1">
              <a:lnSpc>
                <a:spcPct val="150000"/>
              </a:lnSpc>
            </a:pPr>
            <a:r>
              <a:rPr lang="en-US" altLang="ko-KR" sz="2200" dirty="0">
                <a:highlight>
                  <a:srgbClr val="FFFF00"/>
                </a:highlight>
              </a:rPr>
              <a:t>The result of peer review </a:t>
            </a:r>
            <a:r>
              <a:rPr lang="en-US" altLang="ko-KR" sz="2200" dirty="0">
                <a:latin typeface="+mj-lt"/>
              </a:rPr>
              <a:t>will be treated regardless of the team's performance.</a:t>
            </a:r>
          </a:p>
          <a:p>
            <a:pPr marL="0" lvl="1">
              <a:lnSpc>
                <a:spcPct val="150000"/>
              </a:lnSpc>
            </a:pPr>
            <a:endParaRPr lang="en-US" altLang="ko-KR" sz="2200" dirty="0">
              <a:latin typeface="+mj-lt"/>
            </a:endParaRPr>
          </a:p>
          <a:p>
            <a:pPr marL="0" lvl="1">
              <a:lnSpc>
                <a:spcPct val="150000"/>
              </a:lnSpc>
            </a:pPr>
            <a:r>
              <a:rPr lang="en-US" altLang="ko-KR" sz="2200" dirty="0">
                <a:latin typeface="+mj-lt"/>
              </a:rPr>
              <a:t>After the announcement of the plan, </a:t>
            </a:r>
            <a:r>
              <a:rPr lang="en-US" altLang="ko-KR" sz="2200" dirty="0">
                <a:highlight>
                  <a:srgbClr val="FFFF00"/>
                </a:highlight>
                <a:latin typeface="+mj-lt"/>
              </a:rPr>
              <a:t>the topic can be changed only once</a:t>
            </a:r>
            <a:r>
              <a:rPr lang="en-US" altLang="ko-KR" sz="2200" dirty="0">
                <a:latin typeface="+mj-lt"/>
              </a:rPr>
              <a:t>, some contents can be </a:t>
            </a:r>
            <a:r>
              <a:rPr lang="en-US" altLang="ko-KR" sz="2200" dirty="0">
                <a:highlight>
                  <a:srgbClr val="FFFF00"/>
                </a:highlight>
                <a:latin typeface="+mj-lt"/>
              </a:rPr>
              <a:t>added, or deleted</a:t>
            </a:r>
            <a:r>
              <a:rPr lang="en-US" altLang="ko-KR" sz="2200" dirty="0">
                <a:latin typeface="+mj-lt"/>
              </a:rPr>
              <a:t>. New topic should be sent to me </a:t>
            </a:r>
            <a:r>
              <a:rPr lang="en-US" altLang="ko-KR" sz="2200" dirty="0">
                <a:highlight>
                  <a:srgbClr val="FFFF00"/>
                </a:highlight>
                <a:latin typeface="+mj-lt"/>
              </a:rPr>
              <a:t>until Wed. of 4</a:t>
            </a:r>
            <a:r>
              <a:rPr lang="en-US" altLang="ko-KR" sz="2200" baseline="30000" dirty="0">
                <a:highlight>
                  <a:srgbClr val="FFFF00"/>
                </a:highlight>
                <a:latin typeface="+mj-lt"/>
              </a:rPr>
              <a:t>th</a:t>
            </a:r>
            <a:r>
              <a:rPr lang="en-US" altLang="ko-KR" sz="2200" dirty="0">
                <a:highlight>
                  <a:srgbClr val="FFFF00"/>
                </a:highlight>
                <a:latin typeface="+mj-lt"/>
              </a:rPr>
              <a:t>  week by </a:t>
            </a:r>
            <a:r>
              <a:rPr lang="en-US" altLang="ko-KR" sz="2200" dirty="0" err="1">
                <a:highlight>
                  <a:srgbClr val="FFFF00"/>
                </a:highlight>
                <a:latin typeface="+mj-lt"/>
              </a:rPr>
              <a:t>i</a:t>
            </a:r>
            <a:r>
              <a:rPr lang="en-US" altLang="ko-KR" sz="2200" dirty="0">
                <a:highlight>
                  <a:srgbClr val="FFFF00"/>
                </a:highlight>
                <a:latin typeface="+mj-lt"/>
              </a:rPr>
              <a:t>-Cam message.</a:t>
            </a:r>
          </a:p>
          <a:p>
            <a:pPr marL="0" lvl="1" indent="0">
              <a:lnSpc>
                <a:spcPct val="150000"/>
              </a:lnSpc>
              <a:buNone/>
            </a:pPr>
            <a:endParaRPr lang="en-US" altLang="ko-KR" sz="2200" dirty="0">
              <a:latin typeface="+mj-lt"/>
            </a:endParaRPr>
          </a:p>
          <a:p>
            <a:pPr lvl="1">
              <a:buNone/>
            </a:pPr>
            <a:endParaRPr lang="en-US" altLang="ko-KR" sz="1800" dirty="0">
              <a:solidFill>
                <a:srgbClr val="0000FF"/>
              </a:solidFill>
            </a:endParaRPr>
          </a:p>
          <a:p>
            <a:pPr>
              <a:buNone/>
            </a:pPr>
            <a:endParaRPr lang="en-US" altLang="ko-KR" sz="1800" dirty="0"/>
          </a:p>
          <a:p>
            <a:pPr>
              <a:buNone/>
            </a:pPr>
            <a:endParaRPr lang="en-US" altLang="ko-KR" sz="1800" dirty="0"/>
          </a:p>
          <a:p>
            <a:pPr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971292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930C1-8D07-3364-5321-6044848C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9CA8DD-8648-E5BC-530C-EC3E67482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620688"/>
            <a:ext cx="7848872" cy="5379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65FB"/>
              </a:buClr>
              <a:buFont typeface="Wingdings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FFF00"/>
              </a:buClr>
              <a:buFont typeface="Monotype Sorts" pitchFamily="2" charset="2"/>
              <a:buBlip>
                <a:blip r:embed="rId4"/>
              </a:buBlip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100000"/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438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895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352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10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lnSpc>
                <a:spcPct val="150000"/>
              </a:lnSpc>
              <a:buSzTx/>
              <a:buNone/>
            </a:pPr>
            <a:endParaRPr lang="en-US" altLang="ko-KR" sz="2100" b="0" kern="0" dirty="0">
              <a:latin typeface="+mj-lt"/>
            </a:endParaRPr>
          </a:p>
          <a:p>
            <a:pPr marL="0" lvl="1">
              <a:lnSpc>
                <a:spcPct val="150000"/>
              </a:lnSpc>
              <a:buSzTx/>
            </a:pPr>
            <a:r>
              <a:rPr lang="en-US" altLang="ko-KR" sz="2200" b="0" kern="0" dirty="0">
                <a:latin typeface="+mj-lt"/>
              </a:rPr>
              <a:t>Production budget of </a:t>
            </a:r>
            <a:r>
              <a:rPr lang="en-US" altLang="ko-KR" sz="2200" b="0" kern="0" dirty="0">
                <a:highlight>
                  <a:srgbClr val="FFFF00"/>
                </a:highlight>
                <a:latin typeface="+mj-lt"/>
              </a:rPr>
              <a:t>500,000 KRW </a:t>
            </a:r>
            <a:r>
              <a:rPr lang="en-US" altLang="ko-KR" sz="2200" b="0" kern="0" dirty="0">
                <a:latin typeface="+mj-lt"/>
              </a:rPr>
              <a:t>for each team (RISE supports)</a:t>
            </a:r>
          </a:p>
          <a:p>
            <a:pPr marL="0" lvl="1">
              <a:lnSpc>
                <a:spcPct val="150000"/>
              </a:lnSpc>
              <a:buSzTx/>
            </a:pPr>
            <a:r>
              <a:rPr lang="en-US" altLang="ko-KR" sz="2200" b="0" kern="0" dirty="0">
                <a:latin typeface="+mj-lt"/>
              </a:rPr>
              <a:t>Make a budget execution plan carefully</a:t>
            </a:r>
          </a:p>
          <a:p>
            <a:pPr marL="0" lvl="1">
              <a:lnSpc>
                <a:spcPct val="150000"/>
              </a:lnSpc>
              <a:buSzTx/>
            </a:pPr>
            <a:r>
              <a:rPr lang="en-US" altLang="ko-KR" sz="2200" b="0" kern="0" dirty="0">
                <a:latin typeface="+mj-lt"/>
              </a:rPr>
              <a:t>Spend money as much as you can (up to the budget </a:t>
            </a:r>
            <a:r>
              <a:rPr lang="en-US" altLang="ko-KR" sz="2200" b="0" kern="0" dirty="0" err="1">
                <a:latin typeface="+mj-lt"/>
              </a:rPr>
              <a:t>limt</a:t>
            </a:r>
            <a:r>
              <a:rPr lang="en-US" altLang="ko-KR" sz="2200" b="0" kern="0" dirty="0">
                <a:latin typeface="+mj-lt"/>
              </a:rPr>
              <a:t>) and make a good product. Sparing money is NOT a merit.</a:t>
            </a:r>
          </a:p>
          <a:p>
            <a:pPr marL="0" lvl="1">
              <a:lnSpc>
                <a:spcPct val="150000"/>
              </a:lnSpc>
              <a:buSzTx/>
            </a:pPr>
            <a:r>
              <a:rPr lang="en-US" altLang="ko-KR" sz="2200" b="0" kern="0" dirty="0">
                <a:highlight>
                  <a:srgbClr val="FFFF00"/>
                </a:highlight>
                <a:latin typeface="+mj-lt"/>
              </a:rPr>
              <a:t>Details of purchase to be announced later </a:t>
            </a:r>
            <a:r>
              <a:rPr lang="en-US" altLang="ko-KR" sz="2200" b="0" kern="0" dirty="0">
                <a:latin typeface="+mj-lt"/>
              </a:rPr>
              <a:t>(purchase items, receipt processing, etc.)</a:t>
            </a:r>
          </a:p>
          <a:p>
            <a:pPr lvl="1">
              <a:buSzTx/>
              <a:buFont typeface="Wingdings" pitchFamily="2" charset="2"/>
              <a:buNone/>
            </a:pPr>
            <a:endParaRPr lang="en-US" altLang="ko-KR" sz="1800" b="0" kern="0" dirty="0">
              <a:solidFill>
                <a:srgbClr val="0000FF"/>
              </a:solidFill>
            </a:endParaRPr>
          </a:p>
          <a:p>
            <a:pPr>
              <a:buSzTx/>
              <a:buFont typeface="Monotype Sorts" pitchFamily="2" charset="2"/>
              <a:buNone/>
            </a:pPr>
            <a:endParaRPr lang="en-US" altLang="ko-KR" sz="1800" b="0" kern="0" dirty="0"/>
          </a:p>
          <a:p>
            <a:pPr>
              <a:buSzTx/>
              <a:buFont typeface="Monotype Sorts" pitchFamily="2" charset="2"/>
              <a:buNone/>
            </a:pPr>
            <a:endParaRPr lang="en-US" altLang="ko-KR" sz="1800" b="0" kern="0" dirty="0"/>
          </a:p>
          <a:p>
            <a:pPr>
              <a:buSzTx/>
              <a:buFont typeface="Monotype Sorts" pitchFamily="2" charset="2"/>
              <a:buNone/>
            </a:pPr>
            <a:endParaRPr lang="en-US" altLang="ko-KR" sz="1800" b="0" kern="0" dirty="0"/>
          </a:p>
        </p:txBody>
      </p:sp>
    </p:spTree>
    <p:extLst>
      <p:ext uri="{BB962C8B-B14F-4D97-AF65-F5344CB8AC3E}">
        <p14:creationId xmlns:p14="http://schemas.microsoft.com/office/powerpoint/2010/main" val="3779261538"/>
      </p:ext>
    </p:extLst>
  </p:cSld>
  <p:clrMapOvr>
    <a:masterClrMapping/>
  </p:clrMapOvr>
</p:sld>
</file>

<file path=ppt/theme/theme1.xml><?xml version="1.0" encoding="utf-8"?>
<a:theme xmlns:a="http://schemas.openxmlformats.org/drawingml/2006/main" name="2_1차최종점검">
  <a:themeElements>
    <a:clrScheme name="">
      <a:dk1>
        <a:srgbClr val="000000"/>
      </a:dk1>
      <a:lt1>
        <a:srgbClr val="FFFFFF"/>
      </a:lt1>
      <a:dk2>
        <a:srgbClr val="C000C0"/>
      </a:dk2>
      <a:lt2>
        <a:srgbClr val="919191"/>
      </a:lt2>
      <a:accent1>
        <a:srgbClr val="00FFFF"/>
      </a:accent1>
      <a:accent2>
        <a:srgbClr val="FF0000"/>
      </a:accent2>
      <a:accent3>
        <a:srgbClr val="FFFFFF"/>
      </a:accent3>
      <a:accent4>
        <a:srgbClr val="000000"/>
      </a:accent4>
      <a:accent5>
        <a:srgbClr val="AAFFFF"/>
      </a:accent5>
      <a:accent6>
        <a:srgbClr val="E70000"/>
      </a:accent6>
      <a:hlink>
        <a:srgbClr val="FF00FF"/>
      </a:hlink>
      <a:folHlink>
        <a:srgbClr val="C0C0C0"/>
      </a:folHlink>
    </a:clrScheme>
    <a:fontScheme name="2_1차최종점검">
      <a:majorFont>
        <a:latin typeface="HY헤드라인M"/>
        <a:ea typeface="HY헤드라인M"/>
        <a:cs typeface=""/>
      </a:majorFont>
      <a:minorFont>
        <a:latin typeface="HY헤드라인M"/>
        <a:ea typeface="HY헤드라인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80000"/>
          <a:buFont typeface="Wingdings" pitchFamily="2" charset="2"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80000"/>
          <a:buFont typeface="Wingdings" pitchFamily="2" charset="2"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체" pitchFamily="49" charset="-127"/>
          </a:defRPr>
        </a:defPPr>
      </a:lstStyle>
    </a:lnDef>
  </a:objectDefaults>
  <a:extraClrSchemeLst>
    <a:extraClrScheme>
      <a:clrScheme name="2_1차최종점검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1차최종점검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1차최종점검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1차최종점검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1차최종점검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1차최종점검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1차최종점검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LMAT_ch1_introduction</Template>
  <TotalTime>3082</TotalTime>
  <Words>528</Words>
  <Application>Microsoft Office PowerPoint</Application>
  <PresentationFormat>화면 슬라이드 쇼(4:3)</PresentationFormat>
  <Paragraphs>80</Paragraphs>
  <Slides>9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HY헤드라인M</vt:lpstr>
      <vt:lpstr>Monotype Sorts</vt:lpstr>
      <vt:lpstr>굴림</vt:lpstr>
      <vt:lpstr>맑은 고딕</vt:lpstr>
      <vt:lpstr>Arial</vt:lpstr>
      <vt:lpstr>Book Antiqua</vt:lpstr>
      <vt:lpstr>Wingdings</vt:lpstr>
      <vt:lpstr>2_1차최종점검</vt:lpstr>
      <vt:lpstr>비트맵 이미지</vt:lpstr>
      <vt:lpstr>PowerPoint 프레젠테이션</vt:lpstr>
      <vt:lpstr>Capstone Design Outcomes</vt:lpstr>
      <vt:lpstr>Capstone Design Outcomes</vt:lpstr>
      <vt:lpstr>Course Description</vt:lpstr>
      <vt:lpstr>Course Description</vt:lpstr>
      <vt:lpstr>Course Description</vt:lpstr>
      <vt:lpstr>Course Management-1</vt:lpstr>
      <vt:lpstr>Course Management-2</vt:lpstr>
      <vt:lpstr>PowerPoint 프레젠테이션</vt:lpstr>
    </vt:vector>
  </TitlesOfParts>
  <Company>skku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강의 소개</dc:title>
  <dc:creator>hsh</dc:creator>
  <cp:lastModifiedBy>현기 최</cp:lastModifiedBy>
  <cp:revision>296</cp:revision>
  <cp:lastPrinted>2018-03-03T03:24:22Z</cp:lastPrinted>
  <dcterms:created xsi:type="dcterms:W3CDTF">2003-03-05T11:46:58Z</dcterms:created>
  <dcterms:modified xsi:type="dcterms:W3CDTF">2026-02-26T13:35:17Z</dcterms:modified>
</cp:coreProperties>
</file>